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6w6hMAkCkOjFLIBqqG+7DehjO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a741e921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g2a741e921f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a741e921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g2a741e921fc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741e921f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2a741e921fc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741e921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a741e921fc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741e921f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2a741e921fc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741e921f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2a741e921fc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741e921f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2a741e921fc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741e921f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2a741e921fc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741e921f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2a741e921fc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a741e921f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2a741e921fc_0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741e921f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2a741e921fc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741e921f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2a741e921fc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741e921f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2a741e921fc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741e921f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2a741e921fc_0_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slide.png"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000" y="76200"/>
            <a:ext cx="8869680" cy="6687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9"/>
          <p:cNvSpPr txBox="1"/>
          <p:nvPr>
            <p:ph type="title"/>
          </p:nvPr>
        </p:nvSpPr>
        <p:spPr>
          <a:xfrm>
            <a:off x="251520" y="188640"/>
            <a:ext cx="8640960" cy="549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251520" y="836712"/>
            <a:ext cx="8640960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Font typeface="Noto Sans Symbols"/>
              <a:buChar char="▪"/>
              <a:defRPr sz="28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  <a:defRPr sz="24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Char char="▪"/>
              <a:defRPr sz="20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74746"/>
              </a:buClr>
              <a:buSzPts val="1600"/>
              <a:buFont typeface="Noto Sans Symbols"/>
              <a:buChar char="▪"/>
              <a:defRPr sz="16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74746"/>
              </a:buClr>
              <a:buSzPts val="1600"/>
              <a:buFont typeface="Noto Sans Symbols"/>
              <a:buChar char="▪"/>
              <a:defRPr sz="16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179512" y="638132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2411760" y="6381328"/>
            <a:ext cx="44644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948264" y="6382916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62C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-slide-titel-wit.png" id="24" name="Google Shape;2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520" y="224468"/>
            <a:ext cx="8640960" cy="64026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0"/>
          <p:cNvSpPr txBox="1"/>
          <p:nvPr>
            <p:ph type="ctrTitle"/>
          </p:nvPr>
        </p:nvSpPr>
        <p:spPr>
          <a:xfrm>
            <a:off x="755576" y="836712"/>
            <a:ext cx="6984776" cy="630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" type="subTitle"/>
          </p:nvPr>
        </p:nvSpPr>
        <p:spPr>
          <a:xfrm>
            <a:off x="755576" y="1484738"/>
            <a:ext cx="6984776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to-1.jpg" id="28" name="Google Shape;28;p21"/>
          <p:cNvPicPr preferRelativeResize="0"/>
          <p:nvPr/>
        </p:nvPicPr>
        <p:blipFill rotWithShape="1">
          <a:blip r:embed="rId2">
            <a:alphaModFix/>
          </a:blip>
          <a:srcRect b="0" l="0" r="0" t="7535"/>
          <a:stretch/>
        </p:blipFill>
        <p:spPr>
          <a:xfrm>
            <a:off x="0" y="0"/>
            <a:ext cx="9144000" cy="3870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lide-titel.png" id="29" name="Google Shape;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88640"/>
            <a:ext cx="8784976" cy="653568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1"/>
          <p:cNvSpPr txBox="1"/>
          <p:nvPr>
            <p:ph type="ctrTitle"/>
          </p:nvPr>
        </p:nvSpPr>
        <p:spPr>
          <a:xfrm>
            <a:off x="1403648" y="4293096"/>
            <a:ext cx="6984776" cy="630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subTitle"/>
          </p:nvPr>
        </p:nvSpPr>
        <p:spPr>
          <a:xfrm>
            <a:off x="1403648" y="4941122"/>
            <a:ext cx="6984776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F4F4F"/>
              </a:buClr>
              <a:buSzPts val="2000"/>
              <a:buNone/>
              <a:defRPr sz="2000">
                <a:solidFill>
                  <a:srgbClr val="4F4F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guyanik/pds" TargetMode="External"/><Relationship Id="rId4" Type="http://schemas.openxmlformats.org/officeDocument/2006/relationships/hyperlink" Target="https://maxflow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/>
          <p:nvPr>
            <p:ph type="title"/>
          </p:nvPr>
        </p:nvSpPr>
        <p:spPr>
          <a:xfrm>
            <a:off x="251520" y="188640"/>
            <a:ext cx="8640960" cy="549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Predicting the Workforce</a:t>
            </a:r>
            <a:endParaRPr sz="3000"/>
          </a:p>
        </p:txBody>
      </p:sp>
      <p:sp>
        <p:nvSpPr>
          <p:cNvPr id="37" name="Google Shape;37;p1"/>
          <p:cNvSpPr txBox="1"/>
          <p:nvPr/>
        </p:nvSpPr>
        <p:spPr>
          <a:xfrm>
            <a:off x="1043608" y="980728"/>
            <a:ext cx="691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MaxFlow Analytics 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(Company 5, CASA International)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2519693" y="2726974"/>
            <a:ext cx="410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Project: Data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of Statistics and Data Science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395536" y="4427820"/>
            <a:ext cx="23042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</a:rPr>
              <a:t>5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December 2023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395525" y="4797146"/>
            <a:ext cx="25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H. Görkem Uyanık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a741e921fc_0_0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Links</a:t>
            </a:r>
            <a:endParaRPr/>
          </a:p>
        </p:txBody>
      </p:sp>
      <p:sp>
        <p:nvSpPr>
          <p:cNvPr id="46" name="Google Shape;46;g2a741e921fc_0_0"/>
          <p:cNvSpPr txBox="1"/>
          <p:nvPr>
            <p:ph idx="1" type="body"/>
          </p:nvPr>
        </p:nvSpPr>
        <p:spPr>
          <a:xfrm>
            <a:off x="251520" y="836712"/>
            <a:ext cx="8640900" cy="5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https://github.com/guyanik/pds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https://maxflow.streamlit.app/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pic>
        <p:nvPicPr>
          <p:cNvPr id="47" name="Google Shape;47;g2a741e921f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125" y="2434128"/>
            <a:ext cx="7133098" cy="34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a741e921fc_0_8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53" name="Google Shape;53;g2a741e921fc_0_8"/>
          <p:cNvSpPr txBox="1"/>
          <p:nvPr>
            <p:ph idx="1" type="body"/>
          </p:nvPr>
        </p:nvSpPr>
        <p:spPr>
          <a:xfrm>
            <a:off x="251550" y="2300176"/>
            <a:ext cx="8640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</a:pPr>
            <a:r>
              <a:rPr lang="en-US" sz="1800"/>
              <a:t>International chain of contemporary interior decoration shops, with a total of more than 500 stores, subsidiaries and franchisees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</a:pPr>
            <a:r>
              <a:rPr lang="en-US" sz="1800"/>
              <a:t>Objects for interior decoration, giftware, household and bath products, textiles and small items of furniture</a:t>
            </a:r>
            <a:endParaRPr sz="1800"/>
          </a:p>
        </p:txBody>
      </p:sp>
      <p:pic>
        <p:nvPicPr>
          <p:cNvPr id="54" name="Google Shape;54;g2a741e921fc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12671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251520" y="188640"/>
            <a:ext cx="8640960" cy="549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251575" y="1541326"/>
            <a:ext cx="8640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</a:pPr>
            <a:r>
              <a:rPr b="1" lang="en-US" sz="2400"/>
              <a:t>Data: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74746"/>
              </a:buClr>
              <a:buSzPts val="1800"/>
              <a:buFont typeface="Noto Sans Symbols"/>
              <a:buChar char="⮚"/>
            </a:pPr>
            <a:r>
              <a:rPr lang="en-US" sz="1800"/>
              <a:t>Sales Stock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74746"/>
              </a:buClr>
              <a:buSzPts val="1800"/>
              <a:buFont typeface="Noto Sans Symbols"/>
              <a:buChar char="⮚"/>
            </a:pPr>
            <a:r>
              <a:rPr lang="en-US" sz="1800"/>
              <a:t>Sales Order (WO)</a:t>
            </a:r>
            <a:endParaRPr sz="1800"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⮚"/>
            </a:pPr>
            <a:r>
              <a:rPr lang="en-US" sz="1800"/>
              <a:t>Sales Order (WL)</a:t>
            </a:r>
            <a:endParaRPr sz="1800"/>
          </a:p>
        </p:txBody>
      </p:sp>
      <p:sp>
        <p:nvSpPr>
          <p:cNvPr id="61" name="Google Shape;61;p2"/>
          <p:cNvSpPr/>
          <p:nvPr/>
        </p:nvSpPr>
        <p:spPr>
          <a:xfrm>
            <a:off x="467544" y="836712"/>
            <a:ext cx="8208912" cy="122413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Research Question: </a:t>
            </a:r>
            <a:r>
              <a:rPr lang="en-US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is the required daily workforce according to the workload in the warehouse?</a:t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601650" y="2466250"/>
            <a:ext cx="5074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7474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</a:pPr>
            <a:r>
              <a:rPr b="1" lang="en-US" sz="24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rPr>
              <a:t>Data pipeline</a:t>
            </a:r>
            <a:endParaRPr b="1" sz="2400">
              <a:solidFill>
                <a:srgbClr val="47474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rPr>
              <a:t>Detecting files without timestamps and completing them</a:t>
            </a:r>
            <a:endParaRPr sz="1800">
              <a:solidFill>
                <a:srgbClr val="47474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rPr>
              <a:t>Daily aggregation by date and teams (locus)</a:t>
            </a:r>
            <a:endParaRPr sz="1800">
              <a:solidFill>
                <a:srgbClr val="47474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1800"/>
              <a:buFont typeface="Verdana"/>
              <a:buChar char="▪"/>
            </a:pPr>
            <a:r>
              <a:rPr lang="en-US" sz="1800">
                <a:solidFill>
                  <a:srgbClr val="474746"/>
                </a:solidFill>
                <a:latin typeface="Verdana"/>
                <a:ea typeface="Verdana"/>
                <a:cs typeface="Verdana"/>
                <a:sym typeface="Verdana"/>
              </a:rPr>
              <a:t>Filling missing dates with 0 values</a:t>
            </a:r>
            <a:endParaRPr sz="1800">
              <a:solidFill>
                <a:srgbClr val="47474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741e921fc_0_17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68" name="Google Shape;68;g2a741e921fc_0_17"/>
          <p:cNvSpPr txBox="1"/>
          <p:nvPr>
            <p:ph idx="1" type="body"/>
          </p:nvPr>
        </p:nvSpPr>
        <p:spPr>
          <a:xfrm>
            <a:off x="251550" y="188651"/>
            <a:ext cx="8640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</a:pPr>
            <a:r>
              <a:rPr b="1" lang="en-US" sz="2400"/>
              <a:t>Sales Stock Data</a:t>
            </a:r>
            <a:endParaRPr sz="1800"/>
          </a:p>
        </p:txBody>
      </p:sp>
      <p:pic>
        <p:nvPicPr>
          <p:cNvPr id="69" name="Google Shape;69;g2a741e921fc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200" y="2551276"/>
            <a:ext cx="719137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a741e921fc_0_24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75" name="Google Shape;75;g2a741e921fc_0_24"/>
          <p:cNvSpPr txBox="1"/>
          <p:nvPr>
            <p:ph idx="1" type="body"/>
          </p:nvPr>
        </p:nvSpPr>
        <p:spPr>
          <a:xfrm>
            <a:off x="251550" y="188651"/>
            <a:ext cx="86409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6"/>
              </a:buClr>
              <a:buSzPts val="2400"/>
              <a:buFont typeface="Noto Sans Symbols"/>
              <a:buChar char="▪"/>
            </a:pPr>
            <a:r>
              <a:rPr b="1" lang="en-US" sz="2400"/>
              <a:t>Sales Order</a:t>
            </a:r>
            <a:endParaRPr sz="1800"/>
          </a:p>
        </p:txBody>
      </p:sp>
      <p:pic>
        <p:nvPicPr>
          <p:cNvPr id="76" name="Google Shape;76;g2a741e921fc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00" y="2721976"/>
            <a:ext cx="31146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2a741e921fc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4800" y="2721975"/>
            <a:ext cx="25241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251520" y="188640"/>
            <a:ext cx="8640960" cy="549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251520" y="836712"/>
            <a:ext cx="8640960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439652" y="2132856"/>
            <a:ext cx="6264696" cy="20882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Demonstration</a:t>
            </a:r>
            <a:endParaRPr b="0" i="0" sz="4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251520" y="188640"/>
            <a:ext cx="8640960" cy="549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 &amp; Insights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251550" y="4773204"/>
            <a:ext cx="86409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/>
              <a:t>Correlation between sales orders and sales stock quantity: 82%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16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pic>
        <p:nvPicPr>
          <p:cNvPr id="91" name="Google Shape;9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925" y="1346175"/>
            <a:ext cx="8456149" cy="21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741e921fc_0_43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Holt-Winters Method</a:t>
            </a:r>
            <a:endParaRPr/>
          </a:p>
        </p:txBody>
      </p:sp>
      <p:sp>
        <p:nvSpPr>
          <p:cNvPr id="97" name="Google Shape;97;g2a741e921fc_0_43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rPr lang="en-US" sz="1800"/>
              <a:t>Seasonality: 7 days (correlation: 80%)</a:t>
            </a:r>
            <a:endParaRPr b="0" i="0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51 hours (last 60 days)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110 hours (last 5 days)</a:t>
            </a:r>
            <a:endParaRPr sz="2000"/>
          </a:p>
        </p:txBody>
      </p:sp>
      <p:pic>
        <p:nvPicPr>
          <p:cNvPr id="98" name="Google Shape;98;g2a741e921fc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25" y="919400"/>
            <a:ext cx="8640899" cy="3532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741e921fc_0_51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Random Forest</a:t>
            </a:r>
            <a:endParaRPr/>
          </a:p>
        </p:txBody>
      </p:sp>
      <p:sp>
        <p:nvSpPr>
          <p:cNvPr id="104" name="Google Shape;104;g2a741e921fc_0_51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105 hours</a:t>
            </a:r>
            <a:endParaRPr sz="2000"/>
          </a:p>
        </p:txBody>
      </p:sp>
      <p:pic>
        <p:nvPicPr>
          <p:cNvPr id="105" name="Google Shape;105;g2a741e921fc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50" y="881475"/>
            <a:ext cx="8640899" cy="353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741e921fc_0_58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XGBoost (teams)</a:t>
            </a:r>
            <a:endParaRPr/>
          </a:p>
        </p:txBody>
      </p:sp>
      <p:sp>
        <p:nvSpPr>
          <p:cNvPr id="111" name="Google Shape;111;g2a741e921fc_0_58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16 hours</a:t>
            </a:r>
            <a:endParaRPr sz="2000"/>
          </a:p>
        </p:txBody>
      </p:sp>
      <p:pic>
        <p:nvPicPr>
          <p:cNvPr id="112" name="Google Shape;112;g2a741e921fc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50" y="919400"/>
            <a:ext cx="8640899" cy="353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741e921fc_0_65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XGBoost</a:t>
            </a:r>
            <a:endParaRPr/>
          </a:p>
        </p:txBody>
      </p:sp>
      <p:sp>
        <p:nvSpPr>
          <p:cNvPr id="118" name="Google Shape;118;g2a741e921fc_0_65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50 hours</a:t>
            </a:r>
            <a:endParaRPr sz="2000"/>
          </a:p>
        </p:txBody>
      </p:sp>
      <p:pic>
        <p:nvPicPr>
          <p:cNvPr id="119" name="Google Shape;119;g2a741e921fc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63" y="909925"/>
            <a:ext cx="8555275" cy="35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741e921fc_0_72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XGBoost</a:t>
            </a:r>
            <a:endParaRPr/>
          </a:p>
        </p:txBody>
      </p:sp>
      <p:pic>
        <p:nvPicPr>
          <p:cNvPr id="125" name="Google Shape;125;g2a741e921fc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156540"/>
            <a:ext cx="59436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741e921fc_0_79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LSTM (teams)</a:t>
            </a:r>
            <a:endParaRPr/>
          </a:p>
        </p:txBody>
      </p:sp>
      <p:sp>
        <p:nvSpPr>
          <p:cNvPr id="131" name="Google Shape;131;g2a741e921fc_0_79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11 hours</a:t>
            </a:r>
            <a:endParaRPr sz="2000"/>
          </a:p>
        </p:txBody>
      </p:sp>
      <p:pic>
        <p:nvPicPr>
          <p:cNvPr id="132" name="Google Shape;132;g2a741e921fc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25" y="890950"/>
            <a:ext cx="8640899" cy="353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741e921fc_0_86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LSTM</a:t>
            </a:r>
            <a:endParaRPr/>
          </a:p>
        </p:txBody>
      </p:sp>
      <p:sp>
        <p:nvSpPr>
          <p:cNvPr id="138" name="Google Shape;138;g2a741e921fc_0_86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33 hours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Building a forecasting model for future values: unachievable</a:t>
            </a:r>
            <a:endParaRPr sz="2000"/>
          </a:p>
        </p:txBody>
      </p:sp>
      <p:pic>
        <p:nvPicPr>
          <p:cNvPr id="139" name="Google Shape;139;g2a741e921fc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50" y="796200"/>
            <a:ext cx="8640899" cy="3532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741e921fc_0_93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Results: ARIMA</a:t>
            </a:r>
            <a:endParaRPr/>
          </a:p>
        </p:txBody>
      </p:sp>
      <p:sp>
        <p:nvSpPr>
          <p:cNvPr id="145" name="Google Shape;145;g2a741e921fc_0_93"/>
          <p:cNvSpPr txBox="1"/>
          <p:nvPr>
            <p:ph idx="1" type="body"/>
          </p:nvPr>
        </p:nvSpPr>
        <p:spPr>
          <a:xfrm>
            <a:off x="251550" y="4773198"/>
            <a:ext cx="8640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MAE: 33 hours (last 5 days)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rPr lang="en-US" sz="2000"/>
              <a:t>Not good at predicting weekends</a:t>
            </a:r>
            <a:endParaRPr sz="2000"/>
          </a:p>
        </p:txBody>
      </p:sp>
      <p:pic>
        <p:nvPicPr>
          <p:cNvPr id="146" name="Google Shape;146;g2a741e921fc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13" y="937750"/>
            <a:ext cx="8555327" cy="34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a741e921fc_0_102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 Lessons Learned</a:t>
            </a:r>
            <a:endParaRPr/>
          </a:p>
        </p:txBody>
      </p:sp>
      <p:sp>
        <p:nvSpPr>
          <p:cNvPr id="152" name="Google Shape;152;g2a741e921fc_0_102"/>
          <p:cNvSpPr txBox="1"/>
          <p:nvPr>
            <p:ph idx="1" type="body"/>
          </p:nvPr>
        </p:nvSpPr>
        <p:spPr>
          <a:xfrm>
            <a:off x="251520" y="836712"/>
            <a:ext cx="8640900" cy="5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❖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Data pipeline and data cleaning (aggregation, feature selection)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	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❖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Understanding and analysing the data according to main objective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❖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Communication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251520" y="188640"/>
            <a:ext cx="8640960" cy="549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Main Challenges</a:t>
            </a:r>
            <a:endParaRPr/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251520" y="836712"/>
            <a:ext cx="8640900" cy="5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Number of files and size of data (~80 GB for sales stock data)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Model selection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Communication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741e921fc_0_110"/>
          <p:cNvSpPr txBox="1"/>
          <p:nvPr>
            <p:ph type="title"/>
          </p:nvPr>
        </p:nvSpPr>
        <p:spPr>
          <a:xfrm>
            <a:off x="251520" y="188640"/>
            <a:ext cx="8640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64" name="Google Shape;164;g2a741e921fc_0_110"/>
          <p:cNvSpPr txBox="1"/>
          <p:nvPr>
            <p:ph idx="1" type="body"/>
          </p:nvPr>
        </p:nvSpPr>
        <p:spPr>
          <a:xfrm>
            <a:off x="251520" y="836712"/>
            <a:ext cx="8640900" cy="5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LSTM: best for prediction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ARIMA: best for getting future values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971600" y="626397"/>
            <a:ext cx="7200900" cy="2448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45000" y="3367350"/>
            <a:ext cx="727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https://github.com/guyanik/pds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https://maxflow.streamlit.app/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h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2009-12-01T15:52:26Z</dcterms:created>
  <dc:creator>lambr</dc:creator>
</cp:coreProperties>
</file>